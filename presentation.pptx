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Roboto Bold" charset="1" panose="020000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882749" y="602588"/>
            <a:ext cx="4183907" cy="2053918"/>
          </a:xfrm>
          <a:custGeom>
            <a:avLst/>
            <a:gdLst/>
            <a:ahLst/>
            <a:cxnLst/>
            <a:rect r="r" b="b" t="t" l="l"/>
            <a:pathLst>
              <a:path h="2053918" w="4183907">
                <a:moveTo>
                  <a:pt x="0" y="0"/>
                </a:moveTo>
                <a:lnTo>
                  <a:pt x="4183908" y="0"/>
                </a:lnTo>
                <a:lnTo>
                  <a:pt x="4183908" y="2053918"/>
                </a:lnTo>
                <a:lnTo>
                  <a:pt x="0" y="205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02121" y="3972025"/>
            <a:ext cx="13418900" cy="238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b="true" sz="457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SYSTÈME AUTOMATIQUE DE  DÉTECTION DE FRAUDE BANCAIRE : PRIORISATION DES TRANSACTIONS À RISQUE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23004" y="8417813"/>
            <a:ext cx="5641992" cy="44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b="true" sz="26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Réalisé par LIWOKE LISUMBU Kewoly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60929" y="9418809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22357" y="619801"/>
            <a:ext cx="6547624" cy="8799008"/>
            <a:chOff x="0" y="0"/>
            <a:chExt cx="3663950" cy="4923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68751" t="0" r="-3380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042236" y="730236"/>
            <a:ext cx="8224763" cy="87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1"/>
              </a:lnSpc>
            </a:pPr>
            <a:r>
              <a:rPr lang="en-US" sz="51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CONTEXTE </a:t>
            </a:r>
            <a:r>
              <a:rPr lang="en-US" sz="51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 </a:t>
            </a:r>
            <a:r>
              <a:rPr lang="en-US" sz="51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3042" y="2502679"/>
            <a:ext cx="10205157" cy="655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Banque de France, à travers l’Observatoire de la Sécurité des Moyens de Paiement (OSMP), surveille et analyse l’évolution de la fraude sur les moyens de paiement en France.</a:t>
            </a:r>
          </a:p>
          <a:p>
            <a:pPr algn="l">
              <a:lnSpc>
                <a:spcPts val="3256"/>
              </a:lnSpc>
            </a:pPr>
          </a:p>
          <a:p>
            <a:pPr algn="l">
              <a:lnSpc>
                <a:spcPts val="3256"/>
              </a:lnSpc>
            </a:pP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2022, la fraude sur les paiements par carte a représenté</a:t>
            </a:r>
            <a:r>
              <a:rPr lang="en-US" sz="23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0,059 %</a:t>
            </a: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 transactions en valeur, soit près de </a:t>
            </a:r>
            <a:r>
              <a:rPr lang="en-US" sz="23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1,2 milliard d’euros de préjudice. </a:t>
            </a:r>
          </a:p>
          <a:p>
            <a:pPr algn="l">
              <a:lnSpc>
                <a:spcPts val="3256"/>
              </a:lnSpc>
            </a:pPr>
          </a:p>
          <a:p>
            <a:pPr algn="l">
              <a:lnSpc>
                <a:spcPts val="3256"/>
              </a:lnSpc>
            </a:pP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 à plus de </a:t>
            </a:r>
            <a:r>
              <a:rPr lang="en-US" sz="23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 milliards de transactions</a:t>
            </a: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 carte traitées chaque année, la détection automatique des comportements frauduleux constitue un enjeu majeur pour le secteur bancaire, à la fois financier, réglementaire et réputationnel.</a:t>
            </a:r>
          </a:p>
          <a:p>
            <a:pPr algn="l">
              <a:lnSpc>
                <a:spcPts val="3256"/>
              </a:lnSpc>
            </a:pPr>
          </a:p>
          <a:p>
            <a:pPr algn="l">
              <a:lnSpc>
                <a:spcPts val="3256"/>
              </a:lnSpc>
            </a:pPr>
            <a:r>
              <a:rPr lang="en-US" sz="23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 vrai enjeu n’est pas de classer toutes les transactions, mais d’aider un analyste à concentrer son attention sur les cas les plus critiques.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26441" y="761513"/>
            <a:ext cx="3935158" cy="3753414"/>
            <a:chOff x="0" y="0"/>
            <a:chExt cx="6324600" cy="603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3"/>
              <a:stretch>
                <a:fillRect l="-21391" t="0" r="-2139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540402"/>
            <a:ext cx="6460042" cy="153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1"/>
              </a:lnSpc>
            </a:pPr>
            <a:r>
              <a:rPr lang="en-US" sz="44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PROBLÉMATIQUE MÉTIER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9801" y="2759546"/>
            <a:ext cx="5986580" cy="219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47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Comment identifier automatiquement les transactions carte suspectes sans noyer les équipes dans de fausses alertes ?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148651" y="704363"/>
            <a:ext cx="5777800" cy="465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098" indent="-249549" lvl="1">
              <a:lnSpc>
                <a:spcPts val="3236"/>
              </a:lnSpc>
              <a:buFont typeface="Arial"/>
              <a:buChar char="•"/>
            </a:pPr>
            <a:r>
              <a:rPr lang="en-US" b="true" sz="23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Financier </a:t>
            </a:r>
            <a:r>
              <a:rPr lang="en-US" sz="23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perte directe pour le porteur ou l'établissement émetteur.</a:t>
            </a:r>
          </a:p>
          <a:p>
            <a:pPr algn="l" marL="520688" indent="-260344" lvl="1">
              <a:lnSpc>
                <a:spcPts val="3376"/>
              </a:lnSpc>
              <a:buFont typeface="Arial"/>
              <a:buChar char="•"/>
            </a:pPr>
            <a:r>
              <a:rPr lang="en-US" b="true" sz="24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Réglementaire : 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Directive DSP2 impose des systèmes d'authentification forte (SCA) et de détection d'anomalies en temps réel.</a:t>
            </a:r>
          </a:p>
          <a:p>
            <a:pPr algn="l" marL="520688" indent="-260344" lvl="1">
              <a:lnSpc>
                <a:spcPts val="3376"/>
              </a:lnSpc>
              <a:buFont typeface="Arial"/>
              <a:buChar char="•"/>
            </a:pPr>
            <a:r>
              <a:rPr lang="en-US" b="true" sz="24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Opérationnel : 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charge des équipes de contrôle en limitant les fausses alertes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35856" y="6869727"/>
            <a:ext cx="4823444" cy="238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</a:t>
            </a: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développer un score de risque pour prioriser efficacement les investigations.</a:t>
            </a:r>
          </a:p>
          <a:p>
            <a:pPr algn="l">
              <a:lnSpc>
                <a:spcPts val="3796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044798" y="5781078"/>
            <a:ext cx="3935158" cy="3753414"/>
            <a:chOff x="0" y="0"/>
            <a:chExt cx="6324600" cy="6032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4"/>
              <a:stretch>
                <a:fillRect l="-21391" t="0" r="-2139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9801" y="5217270"/>
            <a:ext cx="6460042" cy="14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analystes de l'OSMP ne peuvent pas examiner manuellement des millions de transactions alors que la fraude représente moins de 0,1 % des opérations.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63739" y="1152671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71087" y="2618707"/>
            <a:ext cx="8145827" cy="96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b="true" sz="27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Source : Kaggle – ealtman2019/credit-card-transactions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6903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24 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0998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500K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5075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0,1%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3909" y="6977347"/>
            <a:ext cx="4247608" cy="115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b="true" sz="32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Transactions repertoriés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63214" y="7051258"/>
            <a:ext cx="4247608" cy="5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7"/>
              </a:lnSpc>
              <a:spcBef>
                <a:spcPct val="0"/>
              </a:spcBef>
            </a:pPr>
            <a:r>
              <a:rPr lang="en-US" b="true" sz="30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Fraudes repertoriés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33386" y="6977347"/>
            <a:ext cx="6329828" cy="22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Échantillon analysé 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( Montant de la transaction, Date et heure,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Mode de paiement (Chip / Swipe / Online),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Code marchand (MCC),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État américain du commerçant)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5148" y="2837254"/>
            <a:ext cx="14696127" cy="5180385"/>
          </a:xfrm>
          <a:custGeom>
            <a:avLst/>
            <a:gdLst/>
            <a:ahLst/>
            <a:cxnLst/>
            <a:rect r="r" b="b" t="t" l="l"/>
            <a:pathLst>
              <a:path h="5180385" w="14696127">
                <a:moveTo>
                  <a:pt x="0" y="0"/>
                </a:moveTo>
                <a:lnTo>
                  <a:pt x="14696127" y="0"/>
                </a:lnTo>
                <a:lnTo>
                  <a:pt x="14696127" y="5180385"/>
                </a:lnTo>
                <a:lnTo>
                  <a:pt x="0" y="5180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38682" y="629370"/>
            <a:ext cx="901063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90868" y="1596629"/>
            <a:ext cx="11755171" cy="8346171"/>
          </a:xfrm>
          <a:custGeom>
            <a:avLst/>
            <a:gdLst/>
            <a:ahLst/>
            <a:cxnLst/>
            <a:rect r="r" b="b" t="t" l="l"/>
            <a:pathLst>
              <a:path h="8346171" w="11755171">
                <a:moveTo>
                  <a:pt x="0" y="0"/>
                </a:moveTo>
                <a:lnTo>
                  <a:pt x="11755171" y="0"/>
                </a:lnTo>
                <a:lnTo>
                  <a:pt x="11755171" y="8346171"/>
                </a:lnTo>
                <a:lnTo>
                  <a:pt x="0" y="8346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38682" y="629370"/>
            <a:ext cx="901063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240" y="2396168"/>
            <a:ext cx="15423620" cy="5494665"/>
          </a:xfrm>
          <a:custGeom>
            <a:avLst/>
            <a:gdLst/>
            <a:ahLst/>
            <a:cxnLst/>
            <a:rect r="r" b="b" t="t" l="l"/>
            <a:pathLst>
              <a:path h="5494665" w="15423620">
                <a:moveTo>
                  <a:pt x="0" y="0"/>
                </a:moveTo>
                <a:lnTo>
                  <a:pt x="15423620" y="0"/>
                </a:lnTo>
                <a:lnTo>
                  <a:pt x="15423620" y="5494664"/>
                </a:lnTo>
                <a:lnTo>
                  <a:pt x="0" y="5494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38682" y="629370"/>
            <a:ext cx="901063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4506" y="2534167"/>
            <a:ext cx="13765929" cy="5884935"/>
          </a:xfrm>
          <a:custGeom>
            <a:avLst/>
            <a:gdLst/>
            <a:ahLst/>
            <a:cxnLst/>
            <a:rect r="r" b="b" t="t" l="l"/>
            <a:pathLst>
              <a:path h="5884935" w="13765929">
                <a:moveTo>
                  <a:pt x="0" y="0"/>
                </a:moveTo>
                <a:lnTo>
                  <a:pt x="13765930" y="0"/>
                </a:lnTo>
                <a:lnTo>
                  <a:pt x="13765930" y="5884935"/>
                </a:lnTo>
                <a:lnTo>
                  <a:pt x="0" y="5884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38682" y="629370"/>
            <a:ext cx="901063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93116" y="806450"/>
            <a:ext cx="6294884" cy="8674100"/>
            <a:chOff x="0" y="0"/>
            <a:chExt cx="165791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87748" y="1606753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87748" y="4210291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87748" y="6811982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93795" y="3215075"/>
            <a:ext cx="10393953" cy="3702846"/>
          </a:xfrm>
          <a:custGeom>
            <a:avLst/>
            <a:gdLst/>
            <a:ahLst/>
            <a:cxnLst/>
            <a:rect r="r" b="b" t="t" l="l"/>
            <a:pathLst>
              <a:path h="3702846" w="10393953">
                <a:moveTo>
                  <a:pt x="0" y="0"/>
                </a:moveTo>
                <a:lnTo>
                  <a:pt x="10393953" y="0"/>
                </a:lnTo>
                <a:lnTo>
                  <a:pt x="10393953" y="3702846"/>
                </a:lnTo>
                <a:lnTo>
                  <a:pt x="0" y="3702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923925"/>
            <a:ext cx="5039656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02463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02463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2463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34426" y="2106286"/>
            <a:ext cx="5092822" cy="90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5"/>
              </a:lnSpc>
              <a:spcBef>
                <a:spcPct val="0"/>
              </a:spcBef>
            </a:pPr>
            <a:r>
              <a:rPr lang="en-US" sz="25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H1 : la fraude n’est pas répartie uniformément dans le temps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34426" y="4629392"/>
            <a:ext cx="4856091" cy="81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  <a:spcBef>
                <a:spcPct val="0"/>
              </a:spcBef>
            </a:pPr>
            <a:r>
              <a:rPr lang="en-US" sz="2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montant diffère entre fraude et légitime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4426" y="7222482"/>
            <a:ext cx="4856091" cy="79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H3 : le mode de paiement a un effet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93116" y="806450"/>
            <a:ext cx="6294884" cy="8674100"/>
            <a:chOff x="0" y="0"/>
            <a:chExt cx="165791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87748" y="1606753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87748" y="4210291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87748" y="6811982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208240" y="3194727"/>
            <a:ext cx="11301259" cy="3743542"/>
          </a:xfrm>
          <a:custGeom>
            <a:avLst/>
            <a:gdLst/>
            <a:ahLst/>
            <a:cxnLst/>
            <a:rect r="r" b="b" t="t" l="l"/>
            <a:pathLst>
              <a:path h="3743542" w="11301259">
                <a:moveTo>
                  <a:pt x="0" y="0"/>
                </a:moveTo>
                <a:lnTo>
                  <a:pt x="11301259" y="0"/>
                </a:lnTo>
                <a:lnTo>
                  <a:pt x="11301259" y="3743542"/>
                </a:lnTo>
                <a:lnTo>
                  <a:pt x="0" y="374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923925"/>
            <a:ext cx="5039656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02463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02463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2463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34426" y="2106286"/>
            <a:ext cx="5092822" cy="90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5"/>
              </a:lnSpc>
              <a:spcBef>
                <a:spcPct val="0"/>
              </a:spcBef>
            </a:pPr>
            <a:r>
              <a:rPr lang="en-US" sz="25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H1 : la fraude n’est pas répartie uniformément dans le temps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34426" y="4629392"/>
            <a:ext cx="4856091" cy="81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  <a:spcBef>
                <a:spcPct val="0"/>
              </a:spcBef>
            </a:pPr>
            <a:r>
              <a:rPr lang="en-US" sz="23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montant diffère entre fraude et légitime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4426" y="7222482"/>
            <a:ext cx="4856091" cy="79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H3 : le mode de paiement a un effet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87748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87748" y="6811982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995908" y="3104877"/>
            <a:ext cx="10955618" cy="2916244"/>
          </a:xfrm>
          <a:custGeom>
            <a:avLst/>
            <a:gdLst/>
            <a:ahLst/>
            <a:cxnLst/>
            <a:rect r="r" b="b" t="t" l="l"/>
            <a:pathLst>
              <a:path h="2916244" w="10955618">
                <a:moveTo>
                  <a:pt x="0" y="0"/>
                </a:moveTo>
                <a:lnTo>
                  <a:pt x="10955618" y="0"/>
                </a:lnTo>
                <a:lnTo>
                  <a:pt x="10955618" y="2916244"/>
                </a:lnTo>
                <a:lnTo>
                  <a:pt x="0" y="291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23925"/>
            <a:ext cx="585745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MODELISATION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02463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87748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87748" y="6811982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923925"/>
            <a:ext cx="585745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4426" y="7222482"/>
            <a:ext cx="4856091" cy="79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H3 : le mode de paiement a un effet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DAHMD5xjBKY</dc:identifier>
  <dcterms:modified xsi:type="dcterms:W3CDTF">2011-08-01T06:04:30Z</dcterms:modified>
  <cp:revision>1</cp:revision>
  <dc:title>Blue &amp; white company profile presentation</dc:title>
</cp:coreProperties>
</file>